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999" y="0"/>
            <a:ext cx="4572000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1428750"/>
            <a:ext cx="6286500" cy="380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5B6672"/>
                </a:solidFill>
                <a:latin typeface="Calibri"/>
              </a:rPr>
              <a:t>Actividad individual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1866899"/>
            <a:ext cx="6477000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6324F"/>
                </a:solidFill>
                <a:latin typeface="Calibri"/>
              </a:rPr>
              <a:t>Análisis PESTEL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2857500"/>
            <a:ext cx="6477000" cy="5333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A38"/>
                </a:solidFill>
                <a:latin typeface="Calibri"/>
              </a:rPr>
              <a:t>VCV Cortes Finos SA de CV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3448049"/>
            <a:ext cx="6477000" cy="380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A38"/>
                </a:solidFill>
                <a:latin typeface="Calibri"/>
              </a:rPr>
              <a:t>Hermosillo, Sonora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857250" y="4000500"/>
            <a:ext cx="5810249" cy="9525"/>
          </a:xfrm>
          <a:prstGeom prst="rect">
            <a:avLst/>
          </a:prstGeom>
          <a:solidFill>
            <a:srgbClr val="D8D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4190999"/>
            <a:ext cx="6477000" cy="380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C557C"/>
                </a:solidFill>
                <a:latin typeface="Calibri"/>
              </a:rPr>
              <a:t>Horizonte 2027-2028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7250" y="4762500"/>
            <a:ext cx="6477000" cy="380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A38"/>
                </a:solidFill>
                <a:latin typeface="Calibri"/>
              </a:rPr>
              <a:t>12 factores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5905500"/>
            <a:ext cx="6477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Roberto Celis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Octubre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143000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01250" y="1143000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762249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01250" y="2762249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381499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01250" y="4381499"/>
            <a:ext cx="1809749" cy="1333500"/>
          </a:xfrm>
          <a:prstGeom prst="round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Delimitación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43000"/>
            <a:ext cx="10858500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2A38"/>
                </a:solidFill>
                <a:latin typeface="Calibri"/>
              </a:rPr>
              <a:t>Microempresa cárnica premium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2A38"/>
                </a:solidFill>
                <a:latin typeface="Calibri"/>
              </a:rPr>
              <a:t>Cortes finos de res al alto vacío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F2A38"/>
                </a:solidFill>
                <a:latin typeface="Calibri"/>
              </a:rPr>
              <a:t>Hermosillo, Sonora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50" y="3143250"/>
            <a:ext cx="2581275" cy="2000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543300"/>
            <a:ext cx="2200275" cy="5333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6324F"/>
                </a:solidFill>
                <a:latin typeface="Calibri"/>
              </a:rPr>
              <a:t>5,184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" y="4248150"/>
            <a:ext cx="2200275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kg/mes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525" y="3143250"/>
            <a:ext cx="2581275" cy="2000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29025" y="3543300"/>
            <a:ext cx="2200275" cy="5333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6324F"/>
                </a:solidFill>
                <a:latin typeface="Calibri"/>
              </a:rPr>
              <a:t>64.6 %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29025" y="4248150"/>
            <a:ext cx="2200275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distribuidores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299" y="3143250"/>
            <a:ext cx="2581275" cy="2000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543300"/>
            <a:ext cx="2200275" cy="5333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6324F"/>
                </a:solidFill>
                <a:latin typeface="Calibri"/>
              </a:rPr>
              <a:t>35.4 %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48150"/>
            <a:ext cx="2200275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restaurantes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2075" y="3143250"/>
            <a:ext cx="2581275" cy="2000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72575" y="3543300"/>
            <a:ext cx="2200275" cy="5333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6324F"/>
                </a:solidFill>
                <a:latin typeface="Calibri"/>
              </a:rPr>
              <a:t>962,020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72575" y="4248150"/>
            <a:ext cx="2200275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Hermosillo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" y="5600700"/>
            <a:ext cx="10858500" cy="380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C557C"/>
                </a:solidFill>
                <a:latin typeface="Calibri"/>
              </a:rPr>
              <a:t>Horizonte 2027-2028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Matriz P · E · S</a:t>
            </a:r>
          </a:p>
        </p:txBody>
      </p:sp>
      <p:sp>
        <p:nvSpPr>
          <p:cNvPr id="4" name="Oval 3"/>
          <p:cNvSpPr/>
          <p:nvPr/>
        </p:nvSpPr>
        <p:spPr>
          <a:xfrm>
            <a:off x="666750" y="6181724"/>
            <a:ext cx="133349" cy="133349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6134100"/>
            <a:ext cx="123824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Alto</a:t>
            </a:r>
          </a:p>
        </p:txBody>
      </p:sp>
      <p:sp>
        <p:nvSpPr>
          <p:cNvPr id="6" name="Oval 5"/>
          <p:cNvSpPr/>
          <p:nvPr/>
        </p:nvSpPr>
        <p:spPr>
          <a:xfrm>
            <a:off x="1714500" y="6181724"/>
            <a:ext cx="133349" cy="133349"/>
          </a:xfrm>
          <a:prstGeom prst="ellipse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4999" y="6134100"/>
            <a:ext cx="1333500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Medio</a:t>
            </a:r>
          </a:p>
        </p:txBody>
      </p:sp>
      <p:sp>
        <p:nvSpPr>
          <p:cNvPr id="8" name="Oval 7"/>
          <p:cNvSpPr/>
          <p:nvPr/>
        </p:nvSpPr>
        <p:spPr>
          <a:xfrm>
            <a:off x="2857500" y="6181724"/>
            <a:ext cx="133349" cy="133349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99" y="6134100"/>
            <a:ext cx="123824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Bajo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499" y="6134100"/>
            <a:ext cx="4857750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Impacto = [(IP+Ir)/2] × p(x)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2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2549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Revisión T-MEC: ANETIF pide quitar aranceles cárnicos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El País,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2857500"/>
            <a:ext cx="3162299" cy="380999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499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0.90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5499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4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339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8250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39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Extorsión: 6,562 denuncias en el primer semestre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39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SESNSP-Coparmex,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3900" y="285750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8200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91200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1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43950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0.88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Res de $139 a $167/kg; carne +16.5 % en enero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El Economista,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857500"/>
            <a:ext cx="3162299" cy="380999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3900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2.64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86900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82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52549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Inflación 3.69 % y peso en ~17.2 por dólar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INEGI-Banxico, 2026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8200" y="520065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2499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5499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24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339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8250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339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85.3 kg de carne por persona: 6º consumidor mundial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339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COMECARNE,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33900" y="520065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91200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581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43950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Edad mediana de Hermosillo sube de 30 a 32 años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INEGI, 2026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20065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3900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1.70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86900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Matriz T · E · L</a:t>
            </a:r>
          </a:p>
        </p:txBody>
      </p:sp>
      <p:sp>
        <p:nvSpPr>
          <p:cNvPr id="4" name="Oval 3"/>
          <p:cNvSpPr/>
          <p:nvPr/>
        </p:nvSpPr>
        <p:spPr>
          <a:xfrm>
            <a:off x="666750" y="6181724"/>
            <a:ext cx="133349" cy="133349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6134100"/>
            <a:ext cx="123824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Alto</a:t>
            </a:r>
          </a:p>
        </p:txBody>
      </p:sp>
      <p:sp>
        <p:nvSpPr>
          <p:cNvPr id="6" name="Oval 5"/>
          <p:cNvSpPr/>
          <p:nvPr/>
        </p:nvSpPr>
        <p:spPr>
          <a:xfrm>
            <a:off x="1714500" y="6181724"/>
            <a:ext cx="133349" cy="133349"/>
          </a:xfrm>
          <a:prstGeom prst="ellipse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4999" y="6134100"/>
            <a:ext cx="1333500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Medio</a:t>
            </a:r>
          </a:p>
        </p:txBody>
      </p:sp>
      <p:sp>
        <p:nvSpPr>
          <p:cNvPr id="8" name="Oval 7"/>
          <p:cNvSpPr/>
          <p:nvPr/>
        </p:nvSpPr>
        <p:spPr>
          <a:xfrm>
            <a:off x="2857500" y="6181724"/>
            <a:ext cx="133349" cy="133349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7999" y="6134100"/>
            <a:ext cx="123824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A38"/>
                </a:solidFill>
                <a:latin typeface="Calibri"/>
              </a:rPr>
              <a:t>Bajo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499" y="6134100"/>
            <a:ext cx="4857750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Impacto = [(IP+Ir)/2] × p(x)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2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2549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E-commerce de 941 mil mdp; despensa ya en línea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AMVO,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200" y="285750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499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5499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4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339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8250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2E7D5B"/>
                </a:solidFill>
                <a:latin typeface="Calibri"/>
              </a:rPr>
              <a:t>oportunidad · p(x) 0.75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39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CoDi en 3 pasos y SPEI sin comisiones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39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Banxico,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3900" y="2857500"/>
            <a:ext cx="3162299" cy="380999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8200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91200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150" y="1104900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125730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43950" y="1295399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676400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Presas de Sonora al 13.2 %; Hermosillo, vacía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533649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Milenio, 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85750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43900" y="291465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86900" y="2933699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82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52549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Barrenador: 14,321 casos y 1.2 millones de cabezas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SENASICA, 2026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8200" y="5200650"/>
            <a:ext cx="3162299" cy="3809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2499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5499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24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339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8250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0.92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339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Jornada de 46 horas en 2027 y 44 en 2028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339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Diario Oficial,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33900" y="5200650"/>
            <a:ext cx="3162299" cy="380999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2.76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91200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58150" y="3448049"/>
            <a:ext cx="350519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3600450"/>
            <a:ext cx="438149" cy="323849"/>
          </a:xfrm>
          <a:prstGeom prst="round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43950" y="3638550"/>
            <a:ext cx="2647949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amenaza · p(x) 0.55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019549"/>
            <a:ext cx="3162299" cy="761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A38"/>
                </a:solidFill>
                <a:latin typeface="Calibri"/>
              </a:rPr>
              <a:t>NOM-051 Fase III en preenvasados y aderezos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4876800"/>
            <a:ext cx="3162299" cy="2476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5B6672"/>
                </a:solidFill>
                <a:latin typeface="Calibri"/>
              </a:rPr>
              <a:t>Economía, 2025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5200650"/>
            <a:ext cx="3162299" cy="380999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43900" y="5257800"/>
            <a:ext cx="11430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0.83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86900" y="5276850"/>
            <a:ext cx="1828800" cy="2666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Top-3 por impacto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50" y="1333500"/>
            <a:ext cx="10858500" cy="1447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333500"/>
            <a:ext cx="1238249" cy="14478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9800" y="1619250"/>
            <a:ext cx="6095999" cy="476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A38"/>
                </a:solidFill>
                <a:latin typeface="Calibri"/>
              </a:rPr>
              <a:t>Jornada de 46 horas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9800" y="2171700"/>
            <a:ext cx="6095999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Legal · amenaza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749" y="1581149"/>
            <a:ext cx="2190749" cy="952499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2.76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3009900"/>
            <a:ext cx="10858500" cy="1447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3009900"/>
            <a:ext cx="1238249" cy="14478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09800" y="3295650"/>
            <a:ext cx="6095999" cy="476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A38"/>
                </a:solidFill>
                <a:latin typeface="Calibri"/>
              </a:rPr>
              <a:t>Precio de la 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9800" y="3848099"/>
            <a:ext cx="6095999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Económico · amenaza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8749" y="3257550"/>
            <a:ext cx="2190749" cy="952499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2.64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50" y="4686300"/>
            <a:ext cx="10858500" cy="1447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4686300"/>
            <a:ext cx="1238249" cy="14478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9800" y="4972050"/>
            <a:ext cx="6095999" cy="476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A38"/>
                </a:solidFill>
                <a:latin typeface="Calibri"/>
              </a:rPr>
              <a:t>Sequía en Sonora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5524499"/>
            <a:ext cx="6095999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5B6672"/>
                </a:solidFill>
                <a:latin typeface="Calibri"/>
              </a:rPr>
              <a:t>Ecológico · amenaza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8749" y="4933950"/>
            <a:ext cx="2190749" cy="952499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2.25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Decisiones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50" y="1428750"/>
            <a:ext cx="10858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299" y="1752599"/>
            <a:ext cx="1428750" cy="685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2.76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2700" y="1847849"/>
            <a:ext cx="8762999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A38"/>
                </a:solidFill>
                <a:latin typeface="Calibri"/>
              </a:rPr>
              <a:t>Reprogramar el ASADHOR a 46 horas desde febrero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2990849"/>
            <a:ext cx="10858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6299" y="3314700"/>
            <a:ext cx="1428750" cy="6858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2.64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2700" y="3409950"/>
            <a:ext cx="8762999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A38"/>
                </a:solidFill>
                <a:latin typeface="Calibri"/>
              </a:rPr>
              <a:t>Precio fijo con dos proveedores y tarifa semestral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" y="4552949"/>
            <a:ext cx="10858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299" y="4876800"/>
            <a:ext cx="1428750" cy="685800"/>
          </a:xfrm>
          <a:prstGeom prst="roundRect">
            <a:avLst/>
          </a:prstGeom>
          <a:solidFill>
            <a:srgbClr val="E0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2.25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2700" y="4972050"/>
            <a:ext cx="8762999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A38"/>
                </a:solidFill>
                <a:latin typeface="Calibri"/>
              </a:rPr>
              <a:t>Segundo origen de canales y línea económica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1619250"/>
            <a:ext cx="10477499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C9D7E4"/>
                </a:solidFill>
                <a:latin typeface="Calibri"/>
              </a:rPr>
              <a:t>Entorno 2027-2028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50" y="2266950"/>
            <a:ext cx="10477499" cy="12382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Desfavorable,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C9D7E4"/>
                </a:solidFill>
                <a:latin typeface="Calibri"/>
              </a:rPr>
              <a:t>con ventanas de oportunidad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4000500"/>
            <a:ext cx="10477499" cy="9525"/>
          </a:xfrm>
          <a:prstGeom prst="rect">
            <a:avLst/>
          </a:prstGeom>
          <a:solidFill>
            <a:srgbClr val="2C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4286250"/>
            <a:ext cx="10477499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Seis amenazas concentran 12.71 de 21.57 puntos.</a:t>
            </a:r>
          </a:p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Proteger margen y suministro antes de escalar.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380999"/>
            <a:ext cx="8572500" cy="4952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324F"/>
                </a:solidFill>
                <a:latin typeface="Calibri"/>
              </a:rPr>
              <a:t>Fuentes (APA 7)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43000"/>
            <a:ext cx="5191125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Asociación Mexicana de Ventas Online. (2026). Estudio de Venta Online 2026.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BM Editores. (2026). Propuestas del sector cárnico para optimizar el T-MEC.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Consejo Mexicano de la Carne. (2026). Compendio estadístico 2026.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Diario Oficial de la Federación. (2026, 1 de mayo). Decreto que reforma los arts. 59, 61, 66, 68, 69 y 71 de la LFT.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El Economista. (2026, 19 de febrero). Precio de la carne se dispara 16.5 % en enero.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El Economista. (2026, 24 de septiembre). Pagos digitales: nuevo impulso a CoDi.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El Financiero. (2026, 9 de enero). Inflación se desacelera a 3.69 % al cierre de 2025.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El Imparcial. (2026, 23 de enero). Más de 14 mil casos de gusano barrenador.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143000"/>
            <a:ext cx="5191125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El País México. (2026, 1 de julio). México se juega su ventaja comercial en la revisión del T-MEC.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Expreso. (2026). Sonora supera 3 millones de habitantes y envejece su población.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Forbes México. (2025). Precio de la carne de res ha subido más que el salario mínimo.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Infobae. (2026, 23 de septiembre). La extorsión ya condiciona decisiones de empresas.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Banco de México. (2026). Informe trimestral abril-junio 2026.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Instituto Nacional de Estadística y Geografía. (2026). Encuesta Intercensal 2025.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López, A. (2025). Sequía y cierre fronterizo golpean al sector ganadero de Sonora.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38"/>
                </a:solidFill>
                <a:latin typeface="Calibri"/>
              </a:rPr>
              <a:t>Secretaría de Economía. (2025, 9 de mayo). Amplían plazo del etiquetado nutrimental (NOM-051).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6324599"/>
            <a:ext cx="10858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5B6672"/>
                </a:solidFill>
                <a:latin typeface="Calibri"/>
              </a:rPr>
              <a:t>URL completas en el documento Word, sección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