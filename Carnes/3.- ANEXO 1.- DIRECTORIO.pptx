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00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3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265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065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528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443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669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96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865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381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779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451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91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23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361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61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08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708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99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41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113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90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0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4BA38-8C2F-4032-ACC8-B4B5C4910C46}" type="datetimeFigureOut">
              <a:rPr lang="es-MX" smtClean="0"/>
              <a:t>28/01/2026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8EAFA-F7D0-485D-91CC-E119872BFA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482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A848D-0854-46EA-95BE-7CD3D3B1E4FA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28/01/2026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718E8-307B-4E4B-A5A8-3EF8486C7CE8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7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 txBox="1">
            <a:spLocks/>
          </p:cNvSpPr>
          <p:nvPr/>
        </p:nvSpPr>
        <p:spPr>
          <a:xfrm>
            <a:off x="4701557" y="5769157"/>
            <a:ext cx="2811437" cy="818863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s-MX" sz="1800" b="1" dirty="0">
                <a:latin typeface="+mn-lt"/>
              </a:rPr>
            </a:br>
            <a:r>
              <a:rPr lang="es-ES" sz="12800" b="1" kern="0" spc="5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 panose="020F0502020204030204"/>
              </a:rPr>
              <a:t> </a:t>
            </a:r>
            <a:r>
              <a:rPr lang="es-ES" sz="13500" b="1" kern="0" spc="50" dirty="0">
                <a:ln w="11430"/>
                <a:solidFill>
                  <a:srgbClr val="990033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 panose="020F0502020204030204"/>
              </a:rPr>
              <a:t>ANEXO 1</a:t>
            </a:r>
            <a:br>
              <a:rPr lang="es-MX" sz="1800" b="1" dirty="0">
                <a:latin typeface="+mn-lt"/>
              </a:rPr>
            </a:br>
            <a:endParaRPr lang="es-MX" sz="1800" b="1" dirty="0">
              <a:latin typeface="+mn-lt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29" y="104344"/>
            <a:ext cx="8181541" cy="54502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F172FDC-1309-9DAC-D085-3E1783D4D7BE}"/>
              </a:ext>
            </a:extLst>
          </p:cNvPr>
          <p:cNvSpPr txBox="1"/>
          <p:nvPr/>
        </p:nvSpPr>
        <p:spPr>
          <a:xfrm>
            <a:off x="9202004" y="6362131"/>
            <a:ext cx="3258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Hermosillo, Sonora a enero de 2026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8479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339920" y="651712"/>
            <a:ext cx="6370750" cy="965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000" b="1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s-ES" sz="33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EJEMPLO DE COMERCIALIZACIÓN  </a:t>
            </a:r>
          </a:p>
        </p:txBody>
      </p:sp>
      <p:pic>
        <p:nvPicPr>
          <p:cNvPr id="3" name="2 Imagen" descr="Fotos de Número 5 de stock, Número 5 imágenes libres de derechos |  Depositphotos®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7608" y="2492897"/>
            <a:ext cx="2376264" cy="2519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3503713" y="2858160"/>
            <a:ext cx="441691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7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CIUDADES</a:t>
            </a:r>
          </a:p>
          <a:p>
            <a:pPr algn="ctr"/>
            <a:r>
              <a:rPr lang="es-ES" sz="27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CON 32.9</a:t>
            </a:r>
          </a:p>
          <a:p>
            <a:pPr algn="ctr"/>
            <a:r>
              <a:rPr lang="es-ES" sz="27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MILLONES DE</a:t>
            </a:r>
          </a:p>
          <a:p>
            <a:pPr algn="ctr"/>
            <a:r>
              <a:rPr lang="es-ES" sz="27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HABITANTES</a:t>
            </a:r>
          </a:p>
        </p:txBody>
      </p:sp>
      <p:sp>
        <p:nvSpPr>
          <p:cNvPr id="5" name="4 Rectángulo"/>
          <p:cNvSpPr/>
          <p:nvPr/>
        </p:nvSpPr>
        <p:spPr>
          <a:xfrm>
            <a:off x="7032104" y="2708921"/>
            <a:ext cx="3275856" cy="2169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700" b="1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CDMX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700" b="1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GUADALAJARA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700" b="1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MONTERREY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700" b="1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PUEBLA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700" b="1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TIJUANA</a:t>
            </a:r>
          </a:p>
        </p:txBody>
      </p:sp>
    </p:spTree>
    <p:extLst>
      <p:ext uri="{BB962C8B-B14F-4D97-AF65-F5344CB8AC3E}">
        <p14:creationId xmlns:p14="http://schemas.microsoft.com/office/powerpoint/2010/main" val="170432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691193" y="-45165"/>
            <a:ext cx="6766714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s-ES" sz="3000" b="1" dirty="0">
              <a:ln w="1905"/>
              <a:solidFill>
                <a:srgbClr val="990033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s-ES" sz="3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SON </a:t>
            </a:r>
            <a:r>
              <a:rPr lang="es-ES" sz="30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32.9</a:t>
            </a:r>
            <a:r>
              <a:rPr lang="es-ES" sz="3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MILLONES DE HABITANTES,</a:t>
            </a:r>
          </a:p>
          <a:p>
            <a:pPr algn="ctr"/>
            <a:r>
              <a:rPr lang="es-ES" sz="3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SI CONSUMIERAN ELLAS  </a:t>
            </a:r>
          </a:p>
          <a:p>
            <a:pPr algn="ctr"/>
            <a:r>
              <a:rPr lang="es-ES" sz="30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EL 0.00043769 % AL MES,</a:t>
            </a:r>
            <a:r>
              <a:rPr lang="es-ES" sz="3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  <a:p>
            <a:pPr algn="ctr"/>
            <a:r>
              <a:rPr lang="es-ES" sz="3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CON ESTO SE VENDERÍAN  </a:t>
            </a:r>
          </a:p>
          <a:p>
            <a:pPr algn="ctr"/>
            <a:r>
              <a:rPr lang="es-ES" sz="30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LOS 14,400 CORTES REPRESENTANDO </a:t>
            </a:r>
          </a:p>
          <a:p>
            <a:pPr algn="ctr"/>
            <a:r>
              <a:rPr lang="es-ES" sz="3000" b="1" dirty="0">
                <a:ln w="1905"/>
                <a:solidFill>
                  <a:srgbClr val="8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EL TOTAL DE NUESTRA PRODUCCION</a:t>
            </a:r>
          </a:p>
          <a:p>
            <a:pPr algn="ctr"/>
            <a:endParaRPr lang="es-ES" sz="3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" name="2 Imagen" descr="DF: Robo de carteras en el Eje Central y Madero - YouTub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672" y="3284984"/>
            <a:ext cx="604867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161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46862" y="250439"/>
            <a:ext cx="4848920" cy="817029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15000"/>
              </a:lnSpc>
              <a:spcBef>
                <a:spcPts val="1000"/>
              </a:spcBef>
            </a:pPr>
            <a:br>
              <a:rPr lang="es-ES" sz="3600" b="1" kern="0" spc="5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 panose="020F0502020204030204"/>
              </a:rPr>
            </a:br>
            <a:r>
              <a:rPr lang="es-ES" sz="3600" b="1" kern="0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 panose="020F0502020204030204"/>
              </a:rPr>
              <a:t>CDMX  </a:t>
            </a:r>
            <a:br>
              <a:rPr lang="es-ES" sz="3600" b="1" kern="0" spc="5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 panose="020F0502020204030204"/>
              </a:rPr>
            </a:br>
            <a:r>
              <a:rPr lang="es-MX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MEATME  TEL.- 800 999 0683</a:t>
            </a:r>
            <a:br>
              <a:rPr lang="es-MX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4964" y="1424184"/>
            <a:ext cx="3601846" cy="534460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1.- MEATME   TECAMACHALCO FUENTE DE LAS AGUILAS  2 LOMAS DE TECAMACHALCO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 MEATME   MARIANO ESCOBEDO GRAL. MARIANO ESCOBEDO 48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3.- MEATME   ECHEGARAY AVENIDA GUSTAVO BAZ 95 FRACCIONAMIENTO BOSQUE DE ECHEGARAY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4.- MEATME   -NAPOLESEJE  5  SUR, SAN ANTONIO  95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5.- MEATME   SAN MATEOBLVD. DE LA STA. CRUZ  166 SANTA CRUZ ACATLAN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s-MX" sz="9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6.- MEATME   XOLA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 ENRIQUE PESTALOZZI  403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NARVARTE PONIENTE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s-MX" sz="9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7.- MEATME   INTERLOMAS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BLVD. MAGNOCENTRO 39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s-MX" sz="9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8.- MEATME  LOMAS VERDES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DE LAS TERMAS  32  LOTE  8  MANZANA 27-A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FRACCIONAMIENTO BOULEVARES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9.- MEATME   EJE CENTRAL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 CENTRAL LAZARO CARDENAS 892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10.- MEATME   LAS AGUILAS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CALZADA LAS AGUILAS  1089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991210" y="2000032"/>
            <a:ext cx="32970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678403" y="1383240"/>
            <a:ext cx="3018266" cy="450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11.- MEATME   VIVEROS DE LA LOMA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SOR JUANA INES DE LA CRUZ  1058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VIVEROS DE LA LOMA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12.- MEATME   MONTEVIDEO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MONTEVIDEO  405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13.- MEATME   COYOACAN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MIGUEL ANGEL DE QUEVEDO  594</a:t>
            </a:r>
          </a:p>
          <a:p>
            <a:pPr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14.- MEATME   SANTA FE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SANTA FE  578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CONTADERO</a:t>
            </a:r>
          </a:p>
          <a:p>
            <a:pPr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15.- MEATME   AVENIDA TOLUCA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TOLUCA  1036</a:t>
            </a:r>
          </a:p>
          <a:p>
            <a:pPr lvl="0">
              <a:lnSpc>
                <a:spcPct val="115000"/>
              </a:lnSpc>
            </a:pPr>
            <a:endParaRPr lang="es-MX" sz="9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16.- MEATME   CASTORENA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JOSE MARIA CASTORENA  320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CUAJIMALPA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17.- MEATME   SAN JERONIMA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SAN JERONIMO  1130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 JERONIMO LIDICE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18.- MEATME   ARBOLEDAS</a:t>
            </a:r>
          </a:p>
          <a:p>
            <a:pPr lvl="0">
              <a:lnSpc>
                <a:spcPct val="115000"/>
              </a:lnSpc>
            </a:pPr>
            <a:r>
              <a:rPr lang="es-MX" sz="9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DE LOS JINETES  50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9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127936" y="1132823"/>
            <a:ext cx="2686770" cy="5295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19.- MEATME   AVANTE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SANTA ANA  212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 –EJIDO DE SAN FRANCISCO CULHUACAN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20.- MEATME   HUIPULCO</a:t>
            </a:r>
            <a:endParaRPr lang="es-MX" sz="1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CALZADA DE TLALPAN  4372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105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21.- MEATME   MIRAMONTES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CANAL DE MIRAMONTES  3011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LOCALES 1 AL 5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22.- MEATME   INSURGENTES SUR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AVENIDA INSURGENTES SUR  4142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23.- MEATME   ZONA ESMERALDA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JORGE JIMENEZ CANTU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LOTE  1 Y 2  LOCAL  1 A 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24.-CORTE Y NORTE SAN ANGEL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ALTAVISTA BUSSINESS CENTER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REVOLUCION  #1637 B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5550 2647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25.-CORTE Y NORTE NAPOLES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FILADELFIA # 83 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BENITO JUAREZ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5523 8286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1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8792451" y="1383240"/>
            <a:ext cx="3371006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26.-SONORAS´S MEAT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333 627 5892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331 657 2418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contacto@sonorameat.com  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SON DE GUADALAJARA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PERO HAY EN CDMX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27.- CORTES FINOS PATAGONICOS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FUENTES BROTANTES #26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PORTALES ORIENTE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2595 6416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28.- CARNES PREMIUM SAN MIGUEL “ARAGON”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608 223, SAN JUAN DE ARAGON  IV SECCION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GUSTAVO A. MADERO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2158 5358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29.- PARDO LA CARNE Y LA PESCA POLANCO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HORACIO 330, POLANCO, POLANCO  V SECCON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5920 6049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30.- CORTES FINOS LOS YAQUIS SANTA MONICA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VIA ADOLFO LOPEZ MATEOS # 62 HABIT. VALLE DE SANTA MONICA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TLALNEPANTLA  DE BAZ, EDO DE MEX.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TEL.- 55 2913 0995</a:t>
            </a:r>
            <a:endParaRPr lang="es-MX" sz="9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93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005421" y="377295"/>
            <a:ext cx="379783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700" b="1" i="0" u="none" strike="noStrike" kern="0" cap="none" spc="50" normalizeH="0" baseline="0" noProof="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</a:rPr>
              <a:t>GUADALAJARA, JALISCO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41027" y="549322"/>
            <a:ext cx="3011606" cy="6450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1.- CEDIS OBRADOR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PRIV. DE MIRASOLES #105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MIRASOLES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ZAPOPAN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  331 204 3210 Y 331 204 3211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 CONCHITA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TABACHINES # 4199 B LOCAL 14-15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LOMA BONITA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ZAPOPAN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TEL.- 333 634 3978 Y 333 632 0474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3.- NUEVA ESCOCIA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NUEVA ESCOCIA # 1494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PROVIDENCIA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GUADALAJARA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TEL.- 333 642 3800 Y 333 642 3808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4.- PLAZA NUEVA GALICIA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ANTIGUO CAMINO REAL # 423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GAVILANES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TLAJOMULCO DE ZUÑIGA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TEL.- 331 204 3210 Y 331 204 3211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5.- TOSCANA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SANTA MARGARITA # 3849 LOCAL 14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VALLE REAL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ZAPOPAN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TEL.- 331 199 5586 Y 333109 1915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832747" y="1386346"/>
            <a:ext cx="3038901" cy="561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6.- SANTA TERE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HERRERA Y CAIRO # 1545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SANTA TERE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GUADALAJARA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TEL.- 333 825 2963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7.- EXPRESS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CAMINO REAL COLIMA # 423 LOCAL 7C - 7D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LOS GAVILANES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GAVILANES, JALISCO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TEL.- 333 804 0098 Y 331 368 6215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8.- MERCADO DELICIAS BEEF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RAMÓN CORONA #750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LOS GAVILANES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 AGUSTÍN, JALISCO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9.-BOUTIQUE DE CORTES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LINCOLN # 149 COL. VALLARTA NORTE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2161 6558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10.- SONORA´S MEAT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LAPIZLAZULI # 2745-B VICTORIA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3632 7356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551762" y="1486609"/>
            <a:ext cx="4294495" cy="4539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11.- SONORA´S MEAT CHAPALITA</a:t>
            </a: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TEPEYAC # 57, CHAPALITA</a:t>
            </a: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2306 2240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12.- SONORA´S MEAT  PATRIA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PATRIA # 1500 STA. CATALINA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TEL.-33 3125 3448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ZAPOPAN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13.- CARNES  FINAS DE SONORA (CAFISON AMERICAS)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DE LAS AMERICAS, LADRON DE GUEVARA,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3616 1204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14.- CARNICERIA GUADALAJARA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MIGUEL HIDALGO Y COSTILLA  # 474 INTERIOR # 143 ZONA CENTRO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3613 6882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15.- IMPORTADORA DE CARNES Y CORTES FINOS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RUBEN DARIO # 307 CIRCUNVALACION VALLARTA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TEL.- 33 3615 3949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7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863687" y="159696"/>
            <a:ext cx="21643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700" b="1" i="0" u="none" strike="noStrike" kern="0" cap="none" spc="50" normalizeH="0" baseline="0" noProof="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</a:rPr>
              <a:t>MONTERREY,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700" b="1" kern="0" spc="5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NUEVO LEÓN</a:t>
            </a:r>
            <a:endParaRPr kumimoji="0" lang="es-ES" sz="2700" b="1" i="0" u="none" strike="noStrike" kern="0" cap="none" spc="50" normalizeH="0" baseline="0" noProof="0" dirty="0">
              <a:ln w="11430"/>
              <a:solidFill>
                <a:srgbClr val="8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04800" y="782102"/>
            <a:ext cx="3639403" cy="5813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1.- CARNES GARZA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CARRETERA NACIONAL KM 263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PLAZA LOS CRISTALES, LOCALES  1 Y 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LOS CRISTALES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NUEVO LEÓN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TEL.- 811 291 0172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 CARNES FINAS REGIAS (CAFIRSA)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PASEO DE LOS EONES # 2006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CUMBRES SEGUNDO SECTOR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SECCIÓN C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NUEVO LEÓN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TEL.- 812 527 0750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3.-CARNES FINAS SAN JUAN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CUMBRES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RAUL RANGEL FRIAS # 316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CUMBRES SEGUNDO SECTOR,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SECCIÓN  C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 N,L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TEL.- 818 373 8973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4.- CANTU (MAYOREO EN CARNES CANTU, S.A DE C.V.)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TAPIA # 729 PONIENTE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 N.L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TEL.- 818 372 0500 / 818 375 1395 / 818 373 4150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818 375 4627 / 818 372 3145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947547" y="148148"/>
            <a:ext cx="4036320" cy="7087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5.- COMERCIAL DE CARNES DE MONTERREY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RODRIGO GOMEZ # 1801 CENTRAL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 8370 6988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6.- CARNES FINAS SAN JUAN CONTRY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PROLONGACION, AV. ALFONSO REYES # 4561 VILLA DEL RIO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 8365 6555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7.- JT CARNES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ADOLFO RUIZ  CORTINES OTE. # 3269 COYOACAN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 1086 1557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8.- JT CARNES  SUC. HERRADURA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 DE GOLF LS HERRADURA, AV. PORTAL DEL HUAJUCO # 100-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RECIDENCIAL Y, SIN NOMBRE DE COL. 51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 1409 7900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MONTERREY,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9.- JT CARNES SUC. APODACA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HECTOR CABALLERO # 300-E, COL. VENTURA DE SASIS II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TEL.- 81 1086 1557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APODACA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10.- JC CARNES SUC. MONTEMORELOS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LIVERTAD # 303, DEL MAESTRO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TEL.- 826 263 6101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MONTEMORELOS, N.L.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21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519419" y="568362"/>
            <a:ext cx="269977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700" b="1" i="0" u="none" strike="noStrike" kern="0" cap="none" spc="50" normalizeH="0" baseline="0" noProof="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</a:rPr>
              <a:t>PUEBLA, PUEBLA</a:t>
            </a:r>
          </a:p>
        </p:txBody>
      </p:sp>
      <p:sp>
        <p:nvSpPr>
          <p:cNvPr id="3" name="Rectángulo 2"/>
          <p:cNvSpPr/>
          <p:nvPr/>
        </p:nvSpPr>
        <p:spPr>
          <a:xfrm>
            <a:off x="4180761" y="1244155"/>
            <a:ext cx="3625755" cy="561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1.-CARNES FINAS EL NORTEÑO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17 PTE. 1105 B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BARRIO DE SANTIAGO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PUEBLA, PUEBLA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2.-ALIMENTOS Y PRODUCTOS DEL NORTE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 CAMINO REAL A SAN ANDRÉS, 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VILLA SE ZAVALETA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PUEBLA, PUEBLA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TEL.- 222 284 9344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3.- DISTRIBUIDORA DE CARNES MARIO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MÉXICO-PUEBLA 7502-2, IGNACIO ROMERO VARGAS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PUEBLA, PUEBLA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TEL.- 222 249 9482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4.- CARNES Y CORTES LA SULTANA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 CÁRPATOS # 46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PLAZAS DE GUADALUPE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PUEBLA, PUEBLA 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TEL.- 222 234 0833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5.- CARNICERIA Y CORTES FINOS SAN ANTONIO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4 SUR # 9714 ARBOLEDA DE LOMA BELLA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TEL.- 222 368 9182</a:t>
            </a:r>
            <a:endParaRPr lang="es-MX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PUEBLA, PUEBLA</a:t>
            </a:r>
            <a:endParaRPr lang="es-MX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14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949660" y="240816"/>
            <a:ext cx="228780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700" b="1" i="0" u="none" strike="noStrike" kern="0" cap="none" spc="50" normalizeH="0" baseline="0" noProof="0" dirty="0">
                <a:ln w="11430"/>
                <a:solidFill>
                  <a:srgbClr val="8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</a:rPr>
              <a:t>TIJUANA, BCN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279248" y="1456521"/>
            <a:ext cx="267041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1.- CARNICERIA BUENA VISTA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SANTA INÉS 317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COL. BUENA VISTA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TEL.- 664 682 2145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 CARNICERIA CANALES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FLORES MAGON #245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ZONA CENTRO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TEL.- 664 685 6186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3.- MERCADO DE CARNES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BLVD. GRANADOS # 21252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JARDÍN DORADO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TEL.- 664 449 9600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4.-GALERIA DE CARNES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PLAZA LA ONCE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MELCHOR OCAMPO # 2011, ZONA CENTRO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TEL.- 664 634 0952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TIJUANA,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ángulo 3"/>
          <p:cNvSpPr/>
          <p:nvPr/>
        </p:nvSpPr>
        <p:spPr>
          <a:xfrm>
            <a:off x="7751928" y="1456521"/>
            <a:ext cx="2988859" cy="349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s-MX" sz="1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5.- MULTICARNES JUAREZ</a:t>
            </a:r>
          </a:p>
          <a:p>
            <a:pPr lvl="0">
              <a:lnSpc>
                <a:spcPct val="115000"/>
              </a:lnSpc>
            </a:pPr>
            <a:r>
              <a:rPr lang="es-MX" sz="1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GARIBALDI, JUAREZ</a:t>
            </a:r>
          </a:p>
          <a:p>
            <a:pPr lvl="0">
              <a:lnSpc>
                <a:spcPct val="115000"/>
              </a:lnSpc>
            </a:pPr>
            <a:r>
              <a:rPr lang="es-MX" sz="1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TEL.- 664 634 5883</a:t>
            </a:r>
          </a:p>
          <a:p>
            <a:pPr lvl="0">
              <a:lnSpc>
                <a:spcPct val="115000"/>
              </a:lnSpc>
            </a:pPr>
            <a:r>
              <a:rPr lang="es-MX" sz="1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TIJUANA, B.C.</a:t>
            </a: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6.-CARNICERIA FAMOSO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 RIO SUCHIATE # 9610, MARRON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TEL.- 664 686 4091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TIJUANA,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7.-SUPER CARNICERIA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AV. INDUSTRIAL # 114-A, COL. DEL PRADO ESTE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TEL.- 664 388 4236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TIJUANA, B.C.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32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299D0ADCE6BC478DD2314734D04410" ma:contentTypeVersion="10" ma:contentTypeDescription="Crear nuevo documento." ma:contentTypeScope="" ma:versionID="c0e351cd9153ee821d93817b62c6b2f7">
  <xsd:schema xmlns:xsd="http://www.w3.org/2001/XMLSchema" xmlns:xs="http://www.w3.org/2001/XMLSchema" xmlns:p="http://schemas.microsoft.com/office/2006/metadata/properties" xmlns:ns2="3d0fda62-ac26-4e71-a1cd-d7e281a8a1f4" xmlns:ns3="214005a9-3e84-41f3-b5c1-f990073441b0" targetNamespace="http://schemas.microsoft.com/office/2006/metadata/properties" ma:root="true" ma:fieldsID="9ddabd6178b2e424f06392d682e86124" ns2:_="" ns3:_="">
    <xsd:import namespace="3d0fda62-ac26-4e71-a1cd-d7e281a8a1f4"/>
    <xsd:import namespace="214005a9-3e84-41f3-b5c1-f990073441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fda62-ac26-4e71-a1cd-d7e281a8a1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2b063932-f173-4154-82f3-97ca89cdde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4005a9-3e84-41f3-b5c1-f990073441b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e06327b-6b7b-44d6-bd62-02440658163c}" ma:internalName="TaxCatchAll" ma:showField="CatchAllData" ma:web="214005a9-3e84-41f3-b5c1-f990073441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0fda62-ac26-4e71-a1cd-d7e281a8a1f4">
      <Terms xmlns="http://schemas.microsoft.com/office/infopath/2007/PartnerControls"/>
    </lcf76f155ced4ddcb4097134ff3c332f>
    <TaxCatchAll xmlns="214005a9-3e84-41f3-b5c1-f990073441b0" xsi:nil="true"/>
  </documentManagement>
</p:properties>
</file>

<file path=customXml/itemProps1.xml><?xml version="1.0" encoding="utf-8"?>
<ds:datastoreItem xmlns:ds="http://schemas.openxmlformats.org/officeDocument/2006/customXml" ds:itemID="{10223AA1-B026-4E54-B6D8-58544ECA76B6}"/>
</file>

<file path=customXml/itemProps2.xml><?xml version="1.0" encoding="utf-8"?>
<ds:datastoreItem xmlns:ds="http://schemas.openxmlformats.org/officeDocument/2006/customXml" ds:itemID="{48D385A2-A426-493B-8CA0-2085199FA0E0}"/>
</file>

<file path=customXml/itemProps3.xml><?xml version="1.0" encoding="utf-8"?>
<ds:datastoreItem xmlns:ds="http://schemas.openxmlformats.org/officeDocument/2006/customXml" ds:itemID="{CAD0045E-763D-4435-BA7A-999A0476AC98}"/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1472</Words>
  <Application>Microsoft Office PowerPoint</Application>
  <PresentationFormat>Panorámica</PresentationFormat>
  <Paragraphs>328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Tema de Office</vt:lpstr>
      <vt:lpstr>1_Tema de Office</vt:lpstr>
      <vt:lpstr>Presentación de PowerPoint</vt:lpstr>
      <vt:lpstr>Presentación de PowerPoint</vt:lpstr>
      <vt:lpstr>Presentación de PowerPoint</vt:lpstr>
      <vt:lpstr> CDMX   MEATME  TEL.- 800 999 0683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VCV ANEXOS</dc:title>
  <dc:creator>Lic. Maru Carrillo Lopez</dc:creator>
  <cp:lastModifiedBy>Office 365</cp:lastModifiedBy>
  <cp:revision>45</cp:revision>
  <dcterms:created xsi:type="dcterms:W3CDTF">2023-05-27T20:27:48Z</dcterms:created>
  <dcterms:modified xsi:type="dcterms:W3CDTF">2026-01-28T15:12:17Z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0x010100CE299D0ADCE6BC478DD2314734D04410</vt:lpwstr>
  </property>
</Properties>
</file>